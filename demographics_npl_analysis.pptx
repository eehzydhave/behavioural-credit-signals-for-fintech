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 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Occupation Type</c:v>
                </c:pt>
                <c:pt idx="1">
                  <c:v>Age</c:v>
                </c:pt>
                <c:pt idx="2">
                  <c:v>Organization Type</c:v>
                </c:pt>
                <c:pt idx="3">
                  <c:v>Income Type</c:v>
                </c:pt>
                <c:pt idx="4">
                  <c:v>Region Rating</c:v>
                </c:pt>
                <c:pt idx="5">
                  <c:v>Education Level</c:v>
                </c:pt>
                <c:pt idx="6">
                  <c:v>Gender</c:v>
                </c:pt>
                <c:pt idx="7">
                  <c:v>ID Doc Age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8.0100000000000005E-2</c:v>
                </c:pt>
                <c:pt idx="1">
                  <c:v>7.8200000000000006E-2</c:v>
                </c:pt>
                <c:pt idx="2">
                  <c:v>7.2300000000000003E-2</c:v>
                </c:pt>
                <c:pt idx="3">
                  <c:v>6.3799999999999996E-2</c:v>
                </c:pt>
                <c:pt idx="4">
                  <c:v>5.8900000000000001E-2</c:v>
                </c:pt>
                <c:pt idx="5">
                  <c:v>5.7599999999999998E-2</c:v>
                </c:pt>
                <c:pt idx="6">
                  <c:v>5.4699999999999999E-2</c:v>
                </c:pt>
                <c:pt idx="7">
                  <c:v>5.1499999999999997E-2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4-4F0E-AD8E-046DD7317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2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2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66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CREDIT RISK ANALYSIS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Demographics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Default?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2110" y="3108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Traditional Proxy Signal Strength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Thin-File &amp; Underbanked Borrowers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2286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Ehijele David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663440"/>
            <a:ext cx="2560320" cy="292608"/>
          </a:xfrm>
          <a:prstGeom prst="rect">
            <a:avLst/>
          </a:prstGeom>
          <a:solidFill>
            <a:srgbClr val="0077B6">
              <a:alpha val="4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681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Dataset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Are Locked Out of Credit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200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use demographic proxies such as age, income, education, employment, to decide who is creditworthy.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3200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Segment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borrowers have limited or no credit history. Traditional scoring tools cannot assess them reliably.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743200" cy="3200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801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417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demographic proxies actually good enough to predict who will default, or are they just a blunt exclusion tool?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Credit's mission: broaden financial inclusion for the unbanked population.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and Who We Studied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914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borrowers studied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3474720" cy="914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NPL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3474720" cy="914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5760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307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variables tested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280160"/>
            <a:ext cx="4389120" cy="34747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9933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Demographics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176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education, income type, occupation, family 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70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Characteristics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amount, annuity, goods price, contract 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4930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419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Signals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years, housing, address consistency, region rating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42428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4256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whether borrower missed early installment payments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TOOLKIT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Lenders Currently Use to Assess Borrowers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4747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Demographics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type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288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amount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280160"/>
            <a:ext cx="2743200" cy="3474720"/>
          </a:xfrm>
          <a:prstGeom prst="rect">
            <a:avLst/>
          </a:prstGeom>
          <a:solidFill>
            <a:srgbClr val="E2EAF0"/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8016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Characteristics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258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repayment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9352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price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280160"/>
            <a:ext cx="2743200" cy="34747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28016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Signals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duration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258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type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&amp; property ownership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29352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consistency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273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rating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age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scores excluded — these are credit scores in disguise, not demographic proxies.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Do Demographics Predict Loan Default?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34440"/>
            <a:ext cx="2834640" cy="9601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2344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1307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08192" y="1709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fall in the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association range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423160"/>
            <a:ext cx="2834640" cy="9601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42316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08192" y="2496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08192" y="2898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amount score 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variable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611880"/>
            <a:ext cx="2834640" cy="9601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61188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08192" y="3685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08192" y="40873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statistically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but weak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scale: 0.00–0.10 = Weak   0.10–0.30 = Moderate   0.30+ = Strong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INCOME SURPRISE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Relied-Upon Proxy Is the Weakest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200400"/>
          </a:xfrm>
          <a:prstGeom prst="rect">
            <a:avLst/>
          </a:prstGeom>
          <a:solidFill>
            <a:srgbClr val="E2EAF0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9319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Amount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relied-upon traditional proxy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rates are nearly flat across all income quartiles.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borrowers default at 8.39%.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high-income borrowers default at 6.91%.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1.5-point spread, virtually no difference.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931920" cy="32004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3931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Type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demographic signal found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0.0801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Low-skill </a:t>
            </a:r>
            <a:r>
              <a:rPr lang="en-US" sz="1000" dirty="0" err="1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labourers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 at 17–19%.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and managers default at 4–5%.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type is 20x more informative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income amount alone.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strongest demographic signal (0.0801) sits firmly in the weak association range.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RISK PROFILES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Demographics Are Combined, The Best and Worst Profiles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66160" y="14173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riskiest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safest profile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108960" cy="2606040"/>
          </a:xfrm>
          <a:prstGeom prst="rect">
            <a:avLst/>
          </a:prstGeom>
          <a:solidFill>
            <a:srgbClr val="E2EAF0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3108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25
</a:t>
            </a: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Secondary
</a:t>
            </a: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type: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1188720"/>
            <a:ext cx="3108960" cy="2606040"/>
          </a:xfrm>
          <a:prstGeom prst="rect">
            <a:avLst/>
          </a:prstGeom>
          <a:solidFill>
            <a:srgbClr val="E2EAF0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188720"/>
            <a:ext cx="3108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6642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852160" y="2240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5146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
</a:t>
            </a: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
</a:t>
            </a: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type: </a:t>
            </a: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Even in the highest-risk demographic profile, 80% of borrowers still repaid their loan. Demographics can point a lender in a direction — they cannot reliably identify which individual will default.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5087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173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are real but weak, universally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130552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is statistically significant but every score sits below 0.10. The entire traditional toolkit falls in the weak association range without exception.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15087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173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amount is effectively useless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2130552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 of 0.0040, the most relied-upon proxy carries almost zero predictive power. NPL rates are nearly flat across all income quartiles.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97480" cy="15087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4173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0488" y="173736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signals outperform classic demographics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0488" y="2130552"/>
            <a:ext cx="2478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rating, address consistency, and ID document age all score higher than education, gender, and family status, variables many lenders do not even formally collect.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4069080" cy="15087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63240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154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" y="3474720"/>
            <a:ext cx="3849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profile still has an 80% repayment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867912"/>
            <a:ext cx="3849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worst demographic combination produces 4-in-5 good borrowers. Demographics-based rejection systematically excludes creditworthy people.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063240"/>
            <a:ext cx="4069080" cy="150876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63240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154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81728" y="3474720"/>
            <a:ext cx="3849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point a direction, not draw a 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3867912"/>
            <a:ext cx="3849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patterns exist but individual-level precision does not. A lender cannot reliably use demographics alone to decide on a single application.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VERDICT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Conclusion &amp; 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60120"/>
          </a:xfrm>
          <a:prstGeom prst="rect">
            <a:avLst/>
          </a:prstGeom>
          <a:solidFill>
            <a:srgbClr val="E2EAF0"/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demographic proxies are statistically real but practically weak predictors of NPL outcomes for thin-file borrowers. They are too blunt a tool for individual credit decisions.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743200" cy="22860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exists but is weak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variables score below 0.10. The entire signal range spans 0.0040 to 0.0801, a narrow band that cannot support reliable individual-level decisions.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743200" cy="22860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37744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87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proxy fails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99923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amount scores just 0.0040. The variable traditional lenders weight most heavily is the least informative signal in the entire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2743200" cy="22860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774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487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starting 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99923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tests whether behavioral payment signals can outscore this 0.0040–0.0801 range. If they can, alternative data is a better foundation for credit access.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Behavioral Payment Signal Evaluation — coming next.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rgbClr val="E2EAF0"/>
          </a:solidFill>
          <a:ln w="12700">
            <a:solidFill>
              <a:srgbClr val="0077B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828800"/>
            <a:ext cx="6400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965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1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Ehijele David, I work at the intersection of finance and data. I design intelligence systems that connect day-to-day operations to financial performance, so businesses understand the economic story behind their numbers.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  |  Home Credit Default Risk Dataset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901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Demographics Predict Default?</dc:title>
  <dc:subject>PptxGenJS Presentation</dc:subject>
  <dc:creator>Ehijele David</dc:creator>
  <cp:lastModifiedBy>Ehijele David</cp:lastModifiedBy>
  <cp:revision>2</cp:revision>
  <dcterms:created xsi:type="dcterms:W3CDTF">2026-02-28T20:05:49Z</dcterms:created>
  <dcterms:modified xsi:type="dcterms:W3CDTF">2026-03-02T00:43:44Z</dcterms:modified>
</cp:coreProperties>
</file>